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7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3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Area &amp; Production Trends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(MT)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  <c:pt idx="6">
                  <c:v>2022-23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23.13</c:v>
                </c:pt>
                <c:pt idx="1">
                  <c:v>25.42</c:v>
                </c:pt>
                <c:pt idx="2">
                  <c:v>22.08</c:v>
                </c:pt>
                <c:pt idx="3">
                  <c:v>23.03</c:v>
                </c:pt>
                <c:pt idx="4">
                  <c:v>25.72</c:v>
                </c:pt>
                <c:pt idx="5">
                  <c:v>27.3</c:v>
                </c:pt>
                <c:pt idx="6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772-45C1-A03E-1E05FDF51D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Area (M ha)</c:v>
                </c:pt>
              </c:strCache>
            </c:strRef>
          </c:tx>
          <c:spPr>
            <a:ln w="31750" cap="flat">
              <a:solidFill>
                <a:srgbClr val="E07B3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  <c:pt idx="6">
                  <c:v>2022-23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29.99</c:v>
                </c:pt>
                <c:pt idx="1">
                  <c:v>29.65</c:v>
                </c:pt>
                <c:pt idx="2">
                  <c:v>29.02</c:v>
                </c:pt>
                <c:pt idx="3">
                  <c:v>28.56</c:v>
                </c:pt>
                <c:pt idx="4">
                  <c:v>28.65</c:v>
                </c:pt>
                <c:pt idx="5">
                  <c:v>29.07</c:v>
                </c:pt>
                <c:pt idx="6">
                  <c:v>29.64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772-45C1-A03E-1E05FDF51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Productivity (kg/ha)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Productivity (kg/ha)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  <c:pt idx="6">
                  <c:v>2022-23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771</c:v>
                </c:pt>
                <c:pt idx="1">
                  <c:v>858</c:v>
                </c:pt>
                <c:pt idx="2">
                  <c:v>761</c:v>
                </c:pt>
                <c:pt idx="3">
                  <c:v>806</c:v>
                </c:pt>
                <c:pt idx="4">
                  <c:v>898</c:v>
                </c:pt>
                <c:pt idx="5">
                  <c:v>939</c:v>
                </c:pt>
                <c:pt idx="6">
                  <c:v>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5B-4479-B6F7-72FC7A9A6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Area vs. Production by State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(M ha)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Madhya Pradesh</c:v>
                </c:pt>
                <c:pt idx="1">
                  <c:v>Maharashtra</c:v>
                </c:pt>
                <c:pt idx="2">
                  <c:v>Rajasthan</c:v>
                </c:pt>
                <c:pt idx="3">
                  <c:v>Uttar Pradesh</c:v>
                </c:pt>
                <c:pt idx="4">
                  <c:v>Karnataka</c:v>
                </c:pt>
                <c:pt idx="5">
                  <c:v>Andhra Pradesh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4.9400000000000004</c:v>
                </c:pt>
                <c:pt idx="1">
                  <c:v>3.38</c:v>
                </c:pt>
                <c:pt idx="2">
                  <c:v>3.5</c:v>
                </c:pt>
                <c:pt idx="3">
                  <c:v>2.54</c:v>
                </c:pt>
                <c:pt idx="4">
                  <c:v>2.48</c:v>
                </c:pt>
                <c:pt idx="5">
                  <c:v>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02-410A-9646-1CA7FD61D2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(MT)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Madhya Pradesh</c:v>
                </c:pt>
                <c:pt idx="1">
                  <c:v>Maharashtra</c:v>
                </c:pt>
                <c:pt idx="2">
                  <c:v>Rajasthan</c:v>
                </c:pt>
                <c:pt idx="3">
                  <c:v>Uttar Pradesh</c:v>
                </c:pt>
                <c:pt idx="4">
                  <c:v>Karnataka</c:v>
                </c:pt>
                <c:pt idx="5">
                  <c:v>Andhra Pradesh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4.3</c:v>
                </c:pt>
                <c:pt idx="1">
                  <c:v>2.37</c:v>
                </c:pt>
                <c:pt idx="2">
                  <c:v>0.71</c:v>
                </c:pt>
                <c:pt idx="3">
                  <c:v>1.9</c:v>
                </c:pt>
                <c:pt idx="4">
                  <c:v>1.1200000000000001</c:v>
                </c:pt>
                <c:pt idx="5">
                  <c:v>1.43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02-410A-9646-1CA7FD61D2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Bengal Gram Production &amp; Productivity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(MT)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9.3800000000000008</c:v>
                </c:pt>
                <c:pt idx="1">
                  <c:v>11.37</c:v>
                </c:pt>
                <c:pt idx="2">
                  <c:v>9.94</c:v>
                </c:pt>
                <c:pt idx="3">
                  <c:v>11.08</c:v>
                </c:pt>
                <c:pt idx="4">
                  <c:v>11.91</c:v>
                </c:pt>
                <c:pt idx="5">
                  <c:v>13.98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98-45AE-9EA7-E8CDC4527D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Productivity (kg/ha)</c:v>
                </c:pt>
              </c:strCache>
            </c:strRef>
          </c:tx>
          <c:spPr>
            <a:ln w="31750" cap="flat">
              <a:solidFill>
                <a:srgbClr val="E07B3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2016-17</c:v>
                </c:pt>
                <c:pt idx="1">
                  <c:v>2017-18</c:v>
                </c:pt>
                <c:pt idx="2">
                  <c:v>2018-19</c:v>
                </c:pt>
                <c:pt idx="3">
                  <c:v>2019-20</c:v>
                </c:pt>
                <c:pt idx="4">
                  <c:v>2020-21</c:v>
                </c:pt>
                <c:pt idx="5">
                  <c:v>2021-22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974</c:v>
                </c:pt>
                <c:pt idx="1">
                  <c:v>1077</c:v>
                </c:pt>
                <c:pt idx="2">
                  <c:v>1041</c:v>
                </c:pt>
                <c:pt idx="3">
                  <c:v>1142</c:v>
                </c:pt>
                <c:pt idx="4">
                  <c:v>1192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98-45AE-9EA7-E8CDC4527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Area, Production &amp; Yield by Crop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(M ha)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Bengal Gram</c:v>
                </c:pt>
                <c:pt idx="1">
                  <c:v>Pigeon Pea</c:v>
                </c:pt>
                <c:pt idx="2">
                  <c:v>Black Gram</c:v>
                </c:pt>
                <c:pt idx="3">
                  <c:v>Green Gram</c:v>
                </c:pt>
                <c:pt idx="4">
                  <c:v>Lentil</c:v>
                </c:pt>
                <c:pt idx="5">
                  <c:v>Horse Gram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10.56</c:v>
                </c:pt>
                <c:pt idx="1">
                  <c:v>4.63</c:v>
                </c:pt>
                <c:pt idx="2">
                  <c:v>4.84</c:v>
                </c:pt>
                <c:pt idx="3">
                  <c:v>4.04</c:v>
                </c:pt>
                <c:pt idx="4">
                  <c:v>1.42</c:v>
                </c:pt>
                <c:pt idx="5">
                  <c:v>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E9-48E1-96E2-A9D186323C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(MT)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Bengal Gram</c:v>
                </c:pt>
                <c:pt idx="1">
                  <c:v>Pigeon Pea</c:v>
                </c:pt>
                <c:pt idx="2">
                  <c:v>Black Gram</c:v>
                </c:pt>
                <c:pt idx="3">
                  <c:v>Green Gram</c:v>
                </c:pt>
                <c:pt idx="4">
                  <c:v>Lentil</c:v>
                </c:pt>
                <c:pt idx="5">
                  <c:v>Horse Gram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11.37</c:v>
                </c:pt>
                <c:pt idx="1">
                  <c:v>4.01</c:v>
                </c:pt>
                <c:pt idx="2">
                  <c:v>2.73</c:v>
                </c:pt>
                <c:pt idx="3">
                  <c:v>3.15</c:v>
                </c:pt>
                <c:pt idx="4">
                  <c:v>1.28</c:v>
                </c:pt>
                <c:pt idx="5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E9-48E1-96E2-A9D186323C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Yield ÷10 (kg/ha)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Bengal Gram</c:v>
                </c:pt>
                <c:pt idx="1">
                  <c:v>Pigeon Pea</c:v>
                </c:pt>
                <c:pt idx="2">
                  <c:v>Black Gram</c:v>
                </c:pt>
                <c:pt idx="3">
                  <c:v>Green Gram</c:v>
                </c:pt>
                <c:pt idx="4">
                  <c:v>Lentil</c:v>
                </c:pt>
                <c:pt idx="5">
                  <c:v>Horse Gram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1.077</c:v>
                </c:pt>
                <c:pt idx="1">
                  <c:v>0.86599999999999999</c:v>
                </c:pt>
                <c:pt idx="2">
                  <c:v>0.56399999999999995</c:v>
                </c:pt>
                <c:pt idx="3">
                  <c:v>0.78300000000000003</c:v>
                </c:pt>
                <c:pt idx="4">
                  <c:v>0.90400000000000003</c:v>
                </c:pt>
                <c:pt idx="5">
                  <c:v>0.38200000000000001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E9-48E1-96E2-A9D186323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Lentil Long-Term Yield Trend (1970–2021)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Lentil Yield (kg/ha)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1970</c:v>
                </c:pt>
                <c:pt idx="1">
                  <c:v>1980</c:v>
                </c:pt>
                <c:pt idx="2">
                  <c:v>1990</c:v>
                </c:pt>
                <c:pt idx="3">
                  <c:v>2000</c:v>
                </c:pt>
                <c:pt idx="4">
                  <c:v>2010</c:v>
                </c:pt>
                <c:pt idx="5">
                  <c:v>2017-18</c:v>
                </c:pt>
                <c:pt idx="6">
                  <c:v>2020-21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</c:v>
                </c:pt>
                <c:pt idx="1">
                  <c:v>540</c:v>
                </c:pt>
                <c:pt idx="2">
                  <c:v>620</c:v>
                </c:pt>
                <c:pt idx="3">
                  <c:v>680</c:v>
                </c:pt>
                <c:pt idx="4">
                  <c:v>710</c:v>
                </c:pt>
                <c:pt idx="5">
                  <c:v>1047</c:v>
                </c:pt>
                <c:pt idx="6">
                  <c:v>1017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12-4D2B-B7B2-2BFF742B19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74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3188-0476-EC55-C7FB-161EC26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06DD-F06A-4DEB-BAF9-D004C5F671F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0714A-FEC9-22D9-22A0-CEF8A14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2963-77B7-6B47-97D6-67BC656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EF4B1-28E1-4B50-A850-AB095ED2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24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624078" y="557581"/>
            <a:ext cx="8058150" cy="335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540"/>
              </a:spcBef>
              <a:spcAft>
                <a:spcPts val="540"/>
              </a:spcAft>
            </a:pPr>
            <a:r>
              <a:rPr lang="en-IN" sz="1500" b="1" kern="100" dirty="0">
                <a:solidFill>
                  <a:srgbClr val="C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1500" kern="100" dirty="0">
              <a:solidFill>
                <a:srgbClr val="C00000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3933825" y="3192847"/>
            <a:ext cx="4748403" cy="1614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 dirty="0">
                <a:latin typeface="Century Gothic" pitchFamily="34" charset="0"/>
                <a:cs typeface="Tahoma" pitchFamily="34" charset="0"/>
              </a:rPr>
              <a:t>Team: </a:t>
            </a:r>
            <a:r>
              <a:rPr lang="en-US" sz="1500" b="1" dirty="0" err="1">
                <a:latin typeface="Century Gothic" pitchFamily="34" charset="0"/>
                <a:cs typeface="Tahoma" pitchFamily="34" charset="0"/>
              </a:rPr>
              <a:t>Shrusti.S.Patil</a:t>
            </a:r>
            <a:r>
              <a:rPr lang="en-US" sz="1500" b="1" dirty="0">
                <a:latin typeface="Century Gothic" pitchFamily="34" charset="0"/>
                <a:cs typeface="Tahoma" pitchFamily="34" charset="0"/>
              </a:rPr>
              <a:t> – AMB2242</a:t>
            </a:r>
          </a:p>
          <a:p>
            <a:pPr marL="0" indent="0">
              <a:buNone/>
              <a:defRPr/>
            </a:pPr>
            <a:r>
              <a:rPr lang="en-US" sz="1500" b="1" dirty="0">
                <a:latin typeface="Century Gothic" pitchFamily="34" charset="0"/>
                <a:cs typeface="Tahoma" pitchFamily="34" charset="0"/>
              </a:rPr>
              <a:t>            Sneha – AMB2253</a:t>
            </a:r>
          </a:p>
          <a:p>
            <a:pPr marL="0" indent="0">
              <a:buNone/>
              <a:defRPr/>
            </a:pPr>
            <a:r>
              <a:rPr lang="en-US" sz="1500" b="1" dirty="0">
                <a:latin typeface="Century Gothic" pitchFamily="34" charset="0"/>
                <a:cs typeface="Tahoma" pitchFamily="34" charset="0"/>
              </a:rPr>
              <a:t>            Hema – AMB2085</a:t>
            </a:r>
          </a:p>
        </p:txBody>
      </p:sp>
      <p:pic>
        <p:nvPicPr>
          <p:cNvPr id="4" name="Picture 2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583" y="3389300"/>
            <a:ext cx="1389278" cy="136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1583436" y="246873"/>
            <a:ext cx="6429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REPORT</a:t>
            </a:r>
            <a:endParaRPr lang="en-IN" sz="15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1045845" y="1392174"/>
            <a:ext cx="7214616" cy="117957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Title: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Pulse production in India – Area, production and productivity analysis(2016-2023)</a:t>
            </a:r>
          </a:p>
          <a:p>
            <a:pPr algn="ctr"/>
            <a:endParaRPr lang="en-US" sz="1500" b="1" i="1" dirty="0">
              <a:solidFill>
                <a:srgbClr val="0000FF"/>
              </a:solidFill>
              <a:latin typeface="Century Gothic" pitchFamily="34" charset="0"/>
              <a:cs typeface="Tahoma" pitchFamily="34" charset="0"/>
            </a:endParaRPr>
          </a:p>
          <a:p>
            <a:pPr algn="ctr"/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342798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&amp;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World Pulse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Production Share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MT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Production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2022–23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kg/ha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Productivity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Global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5D5B2"/>
                </a:solidFill>
              </a:rPr>
              <a:t>Producer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About This Report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D3D"/>
                </a:solidFill>
              </a:rPr>
              <a:t>This research comprehensively analyzes the area, production, and productivity trends of six major pulses in India — Bengal gram, pigeon pea, lentil, green gram, black gram, and horse gram — over 2016–17 to 2022–23.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D3D"/>
                </a:solidFill>
              </a:rPr>
              <a:t>Data sourced from DES, ICAR, NFSM-Pulses, and Directorate of Pulses Development. The study identifies growth trajectories, inter-crop comparisons, key constraints, and government initiatives.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2286" y="3068896"/>
            <a:ext cx="822960" cy="8229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2286" y="3018965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Pulses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246211" y="2265246"/>
            <a:ext cx="694944" cy="69494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7246211" y="22402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Bengal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Gram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388352" y="3182112"/>
            <a:ext cx="0" cy="0"/>
          </a:xfrm>
          <a:prstGeom prst="line">
            <a:avLst/>
          </a:prstGeom>
          <a:noFill/>
          <a:ln w="19050">
            <a:solidFill>
              <a:srgbClr val="2D6A4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6463" y="2903221"/>
            <a:ext cx="694944" cy="6949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0554" y="2870254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Pigeon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036566" y="3858768"/>
            <a:ext cx="694944" cy="69494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8278" y="385130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Lentil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059168" y="4091940"/>
            <a:ext cx="694944" cy="69494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05825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Green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Gram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263183" y="3328416"/>
            <a:ext cx="694944" cy="69494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7274" y="33101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Black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Gram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287943" y="2436876"/>
            <a:ext cx="694944" cy="6949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7274" y="23957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Horse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Gram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88352" y="3182112"/>
            <a:ext cx="0" cy="0"/>
          </a:xfrm>
          <a:prstGeom prst="line">
            <a:avLst/>
          </a:prstGeom>
          <a:noFill/>
          <a:ln w="19050">
            <a:solidFill>
              <a:srgbClr val="D4A01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Nutritional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What Are Pulses?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3D3D"/>
                </a:solidFill>
              </a:rPr>
              <a:t>Pulses are annual leguminous crops yielding dried seeds within pods, cultivated in India since the Indus Valley civilization (~2500 BCE). They form the backbone of dietary protein for India's predominantly vegetarian population.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Agronomic Benefits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852928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16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Fix 80–100 kg N/ha via symbiotic Rhizobium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09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Reduce dependence on synthetic fertilizers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639312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602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Improve soil physical structure &amp; organic matter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32504"/>
            <a:ext cx="182880" cy="182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995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Grown across Kharif, Rabi, and Summer seasons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EEF7F1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Nutritional Profile of Pulses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Protein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655064"/>
            <a:ext cx="21031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55064"/>
            <a:ext cx="1640434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20–25%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1945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Dietary Fiber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249424"/>
            <a:ext cx="21031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249424"/>
            <a:ext cx="1367028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94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High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7889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Iron &amp; Zinc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843784"/>
            <a:ext cx="21031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843784"/>
            <a:ext cx="1261872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27889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Rich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383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Folate (B9)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438144"/>
            <a:ext cx="21031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438144"/>
            <a:ext cx="1472184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383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Excellent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</a:rPr>
              <a:t>Complex Carbs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032504"/>
            <a:ext cx="210312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032504"/>
            <a:ext cx="1787652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9776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A4F"/>
                </a:solidFill>
              </a:rPr>
              <a:t>High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4572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Health Benefits: Reduces cardiovascular disease, diabetes,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obesity risk. Key protein source for 1.4B people.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Position &amp; Study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0" cy="34747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🗺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3474720" cy="1463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063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</a:rPr>
              <a:t>India's Role in Global Pulse Production
</a:t>
            </a:r>
            <a:r>
              <a:rPr lang="en-US" sz="950" dirty="0">
                <a:solidFill>
                  <a:srgbClr val="95D5B2"/>
                </a:solidFill>
              </a:rPr>
              <a:t>Largest Producer • Largest Consumer • Largest Importer
</a:t>
            </a:r>
            <a:r>
              <a:rPr lang="en-US" sz="900" dirty="0">
                <a:solidFill>
                  <a:srgbClr val="FFFFFF"/>
                </a:solidFill>
              </a:rPr>
              <a:t>25–30% of Global Pulse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005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Study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0" y="1508760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52544" y="14630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Analyze national trends in area, production &amp; productivity (2016–2023)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075688"/>
            <a:ext cx="256032" cy="25603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075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2544" y="20299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Compare six major pulse crops: Bengal gram, pigeon pea, lentil, green gram, black gram, horse gram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642616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544" y="259689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Assess contribution of major pulse-producing states to national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3209544"/>
            <a:ext cx="256032" cy="25603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3209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52544" y="31638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Identify agronomic, climatic, economic &amp; institutional constraints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3776472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52544" y="37307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Review government initiatives for improving pulse production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23360" y="4343400"/>
            <a:ext cx="256032" cy="25603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4343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52544" y="4297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</a:rPr>
              <a:t>Visualize production data using Python/matplotlib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Data Pipeline –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Collection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DES, ICAR,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NFSM, APEDA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6459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1581912"/>
            <a:ext cx="91440" cy="128016"/>
          </a:xfrm>
          <a:prstGeom prst="round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097280"/>
            <a:ext cx="1234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2.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Cleaning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Manual verify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Uniform units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71800" y="16459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581912"/>
            <a:ext cx="91440" cy="128016"/>
          </a:xfrm>
          <a:prstGeom prst="round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97280"/>
            <a:ext cx="1234440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3. Storage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Python lists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&amp; arrays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34840" y="16459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1581912"/>
            <a:ext cx="91440" cy="128016"/>
          </a:xfrm>
          <a:prstGeom prst="round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97280"/>
            <a:ext cx="1234440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Analysis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NumPy, CAGR,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Descriptive stats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97880" y="16459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1581912"/>
            <a:ext cx="91440" cy="128016"/>
          </a:xfrm>
          <a:prstGeom prst="round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097280"/>
            <a:ext cx="1234440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 Visualization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Matplotlib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150 DPI charts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60920" y="16459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1581912"/>
            <a:ext cx="91440" cy="128016"/>
          </a:xfrm>
          <a:prstGeom prst="round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097280"/>
            <a:ext cx="12344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115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6. Reporting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16642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Word/DOCX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D5B2"/>
                </a:solidFill>
              </a:rPr>
              <a:t>Final Report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514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Data Sources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944368"/>
            <a:ext cx="4023360" cy="713232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DES, MoAFW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National area, production, productivity time series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2944368"/>
            <a:ext cx="4023360" cy="713232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ICAR-IIPR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27448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Variety releases, research data, crop performance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58768"/>
            <a:ext cx="4023360" cy="713232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NFSM Reports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Scheme-level data, demonstration outcomes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858768"/>
            <a:ext cx="4023360" cy="713232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7448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Karnataka Agri Stats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27448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State-level disaggregated crop data 2016–2021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Analytical Methods: Descriptive Statistics  |  Time-Series Trend Analysis  |  CAGR  |  State-wise Comparative Analysis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Pulse Trends (2016–2023)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1005840"/>
          <a:ext cx="3200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</a:rPr>
              <a:t>Key Finding: Production grew 21% (23.13 → 28.00 MT) while productivity rose 22.6% (771 → 945 kg/ha) — driven by yield gains, not area expansion.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State-wise Pulse Production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State Productivity Comparison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417320"/>
            <a:ext cx="297180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60920" y="141732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Prod (MT)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65592" y="141732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% Share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1892808"/>
            <a:ext cx="2971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8928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Madhya Pradesh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60920" y="18928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4.30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65592" y="18928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29.3%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2368296"/>
            <a:ext cx="2971800" cy="457200"/>
          </a:xfrm>
          <a:prstGeom prst="rect">
            <a:avLst/>
          </a:prstGeom>
          <a:solidFill>
            <a:srgbClr val="EEF7F1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3682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Maharashtra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60920" y="236829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2.37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165592" y="236829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16.2%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43600" y="2843784"/>
            <a:ext cx="2971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8437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Rajasthan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360920" y="2843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0.71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165592" y="2843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4.8%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43600" y="3319272"/>
            <a:ext cx="2971800" cy="457200"/>
          </a:xfrm>
          <a:prstGeom prst="rect">
            <a:avLst/>
          </a:prstGeom>
          <a:solidFill>
            <a:srgbClr val="EEF7F1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3192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Uttar Pradesh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60920" y="33192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1.90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165592" y="33192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13.0%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43600" y="3794760"/>
            <a:ext cx="2971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Karnataka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360920" y="37947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1.12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165592" y="37947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7.6%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943600" y="4270248"/>
            <a:ext cx="2971800" cy="457200"/>
          </a:xfrm>
          <a:prstGeom prst="rect">
            <a:avLst/>
          </a:prstGeom>
          <a:solidFill>
            <a:srgbClr val="EEF7F1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42702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</a:rPr>
              <a:t>Andhra Pradesh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360920" y="427024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1.43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165592" y="427024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</a:rPr>
              <a:t>9.8%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Source: DES, Ministry of Agriculture, GoI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Bengal Gram (Chickpea) – King of Pulses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🌾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Chickpea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Field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46304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🫘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745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Chickpea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146304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Chickpea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Harvest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005840"/>
            <a:ext cx="18288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</a:rPr>
              <a:t>74%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D5B2"/>
                </a:solidFill>
              </a:rPr>
              <a:t>Global chickpea area &amp; production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18288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</a:rPr>
              <a:t>35%+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4088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D5B2"/>
                </a:solidFill>
              </a:rPr>
              <a:t>Share of India's total pulse output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2103120"/>
            <a:ext cx="18288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</a:rPr>
              <a:t>22-23%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D5B2"/>
                </a:solidFill>
              </a:rPr>
              <a:t>Protein content — nutritional staple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40880" y="2103120"/>
            <a:ext cx="18288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</a:rPr>
              <a:t>91%↑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5D5B2"/>
                </a:solidFill>
              </a:rPr>
              <a:t>Production growth 2014–15 to 2021–22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2927931847"/>
              </p:ext>
            </p:extLst>
          </p:nvPr>
        </p:nvGraphicFramePr>
        <p:xfrm>
          <a:off x="274320" y="3123398"/>
          <a:ext cx="8105675" cy="1882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Major Pulses – Comparative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005840"/>
            <a:ext cx="1554480" cy="11155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10607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Bengal Gram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Rabi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0" y="17556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1,077 kg/ha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06640" y="1005840"/>
            <a:ext cx="1554480" cy="11155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0607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Pigeon Pea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Kharif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06640" y="17556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866 kg/ha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0" y="2240280"/>
            <a:ext cx="1554480" cy="11155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2951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Black 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Kharif/Rabi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15000" y="29900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564 kg/ha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2240280"/>
            <a:ext cx="1554480" cy="11155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22951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Green Gram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Kharif/Rabi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06640" y="29900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783 kg/ha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0" y="3474720"/>
            <a:ext cx="1554480" cy="11155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3529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Lentil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1500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Rabi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15000" y="422452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904 kg/ha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06640" y="3474720"/>
            <a:ext cx="1554480" cy="111556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3529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Horse Gram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0664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Season: Kharif/Rabi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406640" y="422452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</a:rPr>
              <a:t>Yield: 382 kg/ha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Constraints in Pulse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920240"/>
            <a:ext cx="2194560" cy="12801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926080" cy="1828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Climatic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146304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85%+ rainfed area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179222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Terminal heat stress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21214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Erratic monsoon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45059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Soil salinity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0" y="1920240"/>
            <a:ext cx="365760" cy="64008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3108960"/>
            <a:ext cx="2926080" cy="1828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Agronomic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356616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Low HYV adoption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389534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Seed replacement &lt;20%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" y="422452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Pod borer pest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" y="455371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10-15% post-harvest loss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4023360"/>
            <a:ext cx="36576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35040" y="1005840"/>
            <a:ext cx="2926080" cy="1828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78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Economic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146304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Price volatility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44768" y="179222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Weak MSP reach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21214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Import competition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245059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High input costs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1920240"/>
            <a:ext cx="0" cy="64008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035040" y="3108960"/>
            <a:ext cx="2926080" cy="1828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Institutional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44768" y="356616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Limited extension reach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389534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Credit scarcity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44768" y="422452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Low insurance enrollment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4553712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Market infrastructure gaps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4023360"/>
            <a:ext cx="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Initiatives &amp; Research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74320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064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NFSM-Pulses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48840" y="1124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2007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14 lakh demonstrations, seed distribution, farm machinery, productivity inputs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2D6A4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4320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064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PMKSY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1124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2015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Har Khet Ko Pani — irrigation expansion directly benefiting pulse farmers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51560"/>
            <a:ext cx="274320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064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PMFBY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92440" y="1124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2016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Comprehensive crop insurance: sowing failure, mid-season adversity, post-harvest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B886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274320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266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MSP Support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48840" y="30449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Annual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Green gram MSP: Rs. 4,350 (2014-15) → Rs. 7,755 (2022-23). NAFED procurement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74320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266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150 Seed Hubs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30449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NFSM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347472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Breeder/foundation seed multiplication of improved varieties at scale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743200" cy="1737360"/>
          </a:xfrm>
          <a:prstGeom prst="rect">
            <a:avLst/>
          </a:prstGeom>
          <a:solidFill>
            <a:srgbClr val="FAFAF7"/>
          </a:solidFill>
          <a:ln w="25400">
            <a:solidFill>
              <a:srgbClr val="1B43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71800"/>
            <a:ext cx="274320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266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RKVY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92440" y="30449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Est. Ongoing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63640" y="347472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D3D"/>
                </a:solidFill>
              </a:rPr>
              <a:t>Flexible state funding for pulse programs, infrastructure, market linkages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4332"/>
                </a:solidFill>
              </a:rPr>
              <a:t>ICAR Key Varieties: JG-14 Chickpea (heat-tolerant) | ICPL 87119 Pigeon Pea (wilt-resistant) | HUM-1 Black Gram (MYMV-resistant) | Pant Lentil-4 (cold-tolerant)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Discussion &amp; Lentil Long-Term Trend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3152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Production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21% increase (23.13→28 MT) driven by yield improvement, not area expansion. Technology-led progress.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73152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</a:rPr>
              <a:t>Chickpea Dominance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Near-doubling of chickpea output exposes sector to localized climate risks and demand mismatches.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73152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</a:rPr>
              <a:t>State Disparities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Bihar: 836 kg/ha vs. Rajasthan: 204 kg/ha — agro-climatic and institutional factors drive vast differences.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392424"/>
            <a:ext cx="7315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19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Karnataka Decline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216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44% area reduction (2017-18 to 2020-21) due to irrigation-enabled shift to high-value crops.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187952"/>
            <a:ext cx="73152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15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Productivity Ceiling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171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</a:rPr>
              <a:t>945 kg/ha well below global best of 2,000–2,500 kg/ha. Largest opportunity for improvement.</a:t>
            </a:r>
            <a:endParaRPr lang="en-US" sz="9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75488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475488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Lentil yields below 700 kg/ha until 2010; now exceeding 1,000 kg/ha — reflecting improved varieties and agronomy.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9961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14996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Precision Agri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8653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AI, IoT, remote sensing for crop management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44475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49961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59352" y="14996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Genomics &amp; MAS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9352" y="18653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Marker-assisted breeding for drought &amp; disease tolerance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44475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9961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31152" y="14996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Biofortification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186537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Enhanced iron, zinc &amp; lysine varieties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9689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87552" y="25968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Digital Extension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96265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Mobile advisory, AI chatbots in regional languages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54203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59689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959352" y="25968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Climate Research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59352" y="296265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Crop models for elevated CO2 and changing rainfall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542032"/>
            <a:ext cx="2743200" cy="960120"/>
          </a:xfrm>
          <a:prstGeom prst="rect">
            <a:avLst/>
          </a:prstGeom>
          <a:solidFill>
            <a:srgbClr val="EEF7F1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596896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31152" y="25968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Microbiome Eng.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296265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</a:rPr>
              <a:t>Optimize rhizosphere for N-fixation efficiency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859536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05993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India's pulse sector grew 21% in production and 22.6% in productivity (2016–2023), led by chickpea expansion. Productivity gaps of 1,000+ kg/ha below global best remain the key opportunity. A combination of improved varieties, precision agriculture, robust MSP, and expanded irrigation positions India to achieve pulse self-sufficiency within the decade.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Data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Directorate of Economics and Statistics (DES), Ministry of Agriculture &amp; Farmers' Welfare, GoI – Area, Production and Yield of Major Pulses (2011, 2022).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ICAR – Indian Institute of Pulses Research (IIPR), Kanpur – Annual Progress Report 2021–22.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971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National Food Security Mission (NFSM) – Progress Reports on NFSM-Pulses, MoAFW, GoI (2022).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3931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APEDA – Agricultural and Processed Food Products Export Development Authority. Pulses – India's Trade Statistics. apeda.gov.in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56632" y="10515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Kappec.Karnataka.gov.in – Karnataka Agricultural Price Policy and Economic Cell, State-level pulse statistics.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05740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56632" y="20116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Anilkumar, B. et al. (2019). Growth and Instability in Area, Production and Productivity of Major Pulses in Karnataka. Journal of Farm Sciences, 32(2): 157–164.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56632" y="2971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Sharma, B.K. et al. (2018). Pulse production in India: Challenges and strategies. Indian Journal of Agronomy, 63 (Supplement): 1–16.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97764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56632" y="3931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</a:rPr>
              <a:t>Singh et al. (2019) – Chickpea production constraints; Kumar &amp; Mishra (2020) – Pigeon pea yield gaps in Karnataka.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286000" y="1965960"/>
            <a:ext cx="4572000" cy="36576"/>
          </a:xfrm>
          <a:prstGeom prst="rect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Production in India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5D5B2"/>
                </a:solidFill>
              </a:rPr>
              <a:t>Area, Production &amp; Productivity Analysis (2016–2023)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4564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Shrusti Patil (AMB2242)   |   Sneha (AMB2253)   |   Hema A T (AMB2085)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5D5B2"/>
                </a:solidFill>
              </a:rPr>
              <a:t>AGR 311 (0+1) – Practical Crop Production – 1 (Rainfed)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251960"/>
            <a:ext cx="914400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3708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</a:rPr>
              <a:t>University of Agricultural Sciences, Bangalore  |  College of Agriculture, GKVK – 560065  |  UAS GKVK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1509</Words>
  <Application>Microsoft Office PowerPoint</Application>
  <PresentationFormat>On-screen Show (16:9)</PresentationFormat>
  <Paragraphs>290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Production in India</dc:title>
  <dc:subject>PptxGenJS Presentation</dc:subject>
  <dc:creator>UAS GKVK Bangalore</dc:creator>
  <cp:lastModifiedBy>Sneha V L</cp:lastModifiedBy>
  <cp:revision>6</cp:revision>
  <dcterms:created xsi:type="dcterms:W3CDTF">2026-04-01T04:12:54Z</dcterms:created>
  <dcterms:modified xsi:type="dcterms:W3CDTF">2026-04-15T14:04:14Z</dcterms:modified>
</cp:coreProperties>
</file>